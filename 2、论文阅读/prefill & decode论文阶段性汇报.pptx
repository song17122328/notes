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67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1" r:id="rId13"/>
    <p:sldId id="265" r:id="rId14"/>
    <p:sldId id="278" r:id="rId15"/>
    <p:sldId id="279" r:id="rId16"/>
    <p:sldId id="280" r:id="rId17"/>
    <p:sldId id="282" r:id="rId18"/>
    <p:sldId id="283" r:id="rId19"/>
    <p:sldId id="28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0000"/>
    <a:srgbClr val="0070C0"/>
    <a:srgbClr val="0268CE"/>
    <a:srgbClr val="2376CD"/>
    <a:srgbClr val="0556AA"/>
    <a:srgbClr val="267AD0"/>
    <a:srgbClr val="006C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 autoAdjust="0"/>
    <p:restoredTop sz="94301" autoAdjust="0"/>
  </p:normalViewPr>
  <p:slideViewPr>
    <p:cSldViewPr snapToGrid="0">
      <p:cViewPr>
        <p:scale>
          <a:sx n="200" d="100"/>
          <a:sy n="200" d="100"/>
        </p:scale>
        <p:origin x="-571" y="-348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35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FC1CFD4-24A3-BDFD-3A70-BE782C0184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0216ED-4F1B-E013-CC3F-4F3B86E60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886E6-370C-4AE7-A5C6-6F47CB21D156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B9F271-A814-5C5D-5E6A-BB7AC1FB45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357C59-902D-3EDF-A841-4C562C199F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06487-AE36-4C56-B3DA-94B6C9807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3059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8ED0D-E7D9-4ABE-9475-425FD2CE9E70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3EC24-4983-4D49-B952-9EF087B11A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9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7693B-6FA6-4305-B95B-F41A77E0668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252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3EC24-4983-4D49-B952-9EF087B11A2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0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8A815-72A0-2643-1EA0-CEA320054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FFB365-F123-DDCB-6C2A-728ABB8B5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A23966-6300-59C6-A32C-343B8637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0B90FB-D640-B43A-FB94-1DC2E2FD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BC591D-A19A-0897-E78A-FF3F718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22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961F2-BD8D-60E6-0067-117CF4B7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 baseline="0">
                <a:solidFill>
                  <a:srgbClr val="267AD0"/>
                </a:solidFill>
                <a:latin typeface="new times roman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3E052-2D21-2A72-77FB-0517C6430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91862-0830-5C16-F508-47CF982D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1D99D-550C-9A3A-45CE-2A15463D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28895-52F2-2E84-3A74-2CF47789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39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7BF6C-C014-B608-71DD-C4E50949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923ECD-FF99-9BDD-D4B8-90BCE432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408B3C-C5B0-1693-2ECB-78086BC2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79662-D519-F650-479F-564DCDE1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B6101-74AB-CD93-A636-5DD5E4A0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8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AC7BB-75C8-B154-2376-C35AC212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ACBC5C-4BF6-52D2-ACAA-F14B445A8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DB1274-FD8A-A523-5731-6711AFA4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416495-1851-8222-5D33-71125244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84C31D-1DF4-4D72-DBE9-99F2EC43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3E887C-A685-FD84-642D-E6069CBB6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78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CE209-E716-A7E0-F2E4-4C74B3B9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9F9BAA-97E7-4BBA-E120-AC9C4A179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F113B0-A825-DB47-33CA-4F069AD7F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CF55E9-7726-491F-A182-47F2487B3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B52712-0A14-2DC0-1FD9-8E6E92720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B981E1-5A4B-201D-6604-7BF7144B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1C792F-2AC4-5A31-66E7-D948564E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A02314-D68F-D090-4E8D-165FD798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9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B799D-50AD-C379-249E-9E281775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586CEB-A622-03B8-CB11-4998B78C6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72869B-8BA7-ED26-BAED-7A1FCDA8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80CC8-61A1-C137-B24B-7F73D147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5B482A6-64EF-151F-7C0B-464ED8F1B1E1}"/>
              </a:ext>
            </a:extLst>
          </p:cNvPr>
          <p:cNvSpPr/>
          <p:nvPr userDrawn="1"/>
        </p:nvSpPr>
        <p:spPr>
          <a:xfrm>
            <a:off x="1244081" y="2120870"/>
            <a:ext cx="3981062" cy="31789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 dirty="0">
              <a:solidFill>
                <a:schemeClr val="tx1"/>
              </a:solidFill>
              <a:latin typeface="new times roman"/>
              <a:ea typeface="黑体" panose="02010609060101010101" pitchFamily="49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7F4BCE-F206-F201-FDB3-EA8547964168}"/>
              </a:ext>
            </a:extLst>
          </p:cNvPr>
          <p:cNvSpPr/>
          <p:nvPr userDrawn="1"/>
        </p:nvSpPr>
        <p:spPr>
          <a:xfrm>
            <a:off x="7262326" y="2120870"/>
            <a:ext cx="3981062" cy="31789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 dirty="0">
              <a:solidFill>
                <a:schemeClr val="tx1"/>
              </a:solidFill>
              <a:latin typeface="new times roman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1F6FDD-B9C1-240D-9DE4-1CB0A661768A}"/>
              </a:ext>
            </a:extLst>
          </p:cNvPr>
          <p:cNvSpPr txBox="1"/>
          <p:nvPr userDrawn="1"/>
        </p:nvSpPr>
        <p:spPr>
          <a:xfrm>
            <a:off x="8089641" y="2789853"/>
            <a:ext cx="236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7718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259CD0-DE7C-8140-45C8-9D27621C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67C492-D803-B690-672D-ED94DEA4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2C3FB-BCA8-9BDA-7E1A-9113AD40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91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5051A-F7A9-B9CB-6B5F-D1C5A65E2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8409F-E79B-54FF-6E1F-2E6CF1DEE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DECA24-9B7D-1F21-3631-CA1BE3D9F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B95687-9E93-FE46-B4E0-3B74810C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59C49F-7218-CF0C-A78E-7839C60D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525AE8-2DCF-B20D-5AFC-5FA53590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9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0ECEC-8D57-2946-F886-099C6A8E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886BE8-933E-2776-6A30-47A73F6D2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C5F887-4F8F-D820-7DF3-DE978AE7E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353ACE-E118-1198-7446-E7D53A7B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E06D7C-55DC-82FD-7F55-2FA4416C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5B7CC1-AE07-3F27-0C09-C5FB4080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88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9FB9E-A639-F9DE-9E88-C6FBAFF3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4B2780-F60F-C89B-48A2-EA7F2D72A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E1A243-78E5-B04D-9EC9-B6AB094A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51E126-20DC-80F0-393B-8D69E0B2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DF357-BA3A-4E19-1853-5CE4DD15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19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EE488A-ED17-2A5A-07A5-5E3F1FE8A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EA4010-FC12-71B8-6E13-8FDC377BE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084612-EEDD-62D3-CB1D-E103B88D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E3AD96-C510-2450-36AA-64B9BD2A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75093-9373-DEB7-4ABF-0EAA8016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363F-DBE4-4C3C-AF9C-CF96AF233C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40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F6B9EF-E8F4-399E-3A73-26BDF217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799"/>
            <a:ext cx="5770944" cy="517619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CDB445-33FA-E7E5-9AB6-743DEA139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74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  <a:endParaRPr lang="en-US" altLang="zh-CN" dirty="0"/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74C99-B795-58E1-4CB2-326A35B59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BC62D-2EC8-4F5D-AE81-723DF2390CFD}" type="datetimeFigureOut">
              <a:rPr lang="zh-CN" altLang="en-US" smtClean="0"/>
              <a:t>2025/5/20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058EAD-5D0B-5E51-346E-0CE7B2B25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CE8CFC-667E-621D-586F-0990C3369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 dirty="0"/>
              <a:t>论文标题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8B3E7-7390-DF00-C81B-C31A775BD9EA}"/>
              </a:ext>
            </a:extLst>
          </p:cNvPr>
          <p:cNvSpPr/>
          <p:nvPr userDrawn="1"/>
        </p:nvSpPr>
        <p:spPr>
          <a:xfrm flipV="1">
            <a:off x="699382" y="1119607"/>
            <a:ext cx="10987314" cy="45719"/>
          </a:xfrm>
          <a:prstGeom prst="rect">
            <a:avLst/>
          </a:prstGeom>
          <a:solidFill>
            <a:srgbClr val="2376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40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rgbClr val="0268CE"/>
          </a:solidFill>
          <a:latin typeface="new times roma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200" kern="1200" baseline="0">
          <a:solidFill>
            <a:srgbClr val="0268CE"/>
          </a:solidFill>
          <a:latin typeface="new times roman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new times roman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new times roman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new times roman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new times roman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DF47B-4D4A-0C8D-3A35-119194C73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49" y="517618"/>
            <a:ext cx="3749745" cy="528606"/>
          </a:xfrm>
        </p:spPr>
        <p:txBody>
          <a:bodyPr wrap="none" anchor="ctr" anchorCtr="0">
            <a:spAutoFit/>
          </a:bodyPr>
          <a:lstStyle/>
          <a:p>
            <a:r>
              <a:rPr lang="zh-CN" altLang="en-US" sz="3150" b="1" kern="0" spc="85" dirty="0">
                <a:solidFill>
                  <a:srgbClr val="086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第</a:t>
            </a:r>
            <a:r>
              <a:rPr lang="en-US" altLang="zh-CN" sz="3150" b="1" kern="0" spc="85" dirty="0">
                <a:solidFill>
                  <a:srgbClr val="086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1</a:t>
            </a:r>
            <a:r>
              <a:rPr lang="zh-CN" altLang="en-US" sz="3150" b="1" kern="0" spc="85" dirty="0">
                <a:solidFill>
                  <a:srgbClr val="086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篇系统：</a:t>
            </a:r>
            <a:r>
              <a:rPr lang="en-US" altLang="zh-CN" sz="3150" b="1" kern="0" spc="85" dirty="0">
                <a:solidFill>
                  <a:srgbClr val="0860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ORCA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249FAD-B0AB-5E99-1725-E472AA000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720" y="1252379"/>
            <a:ext cx="10830560" cy="435324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zh-CN" dirty="0"/>
              <a:t>[16th OSDI 2022 ] Orca: A distributed serving system for {Transformer-Based} generative models</a:t>
            </a:r>
          </a:p>
          <a:p>
            <a:pPr marL="457200" indent="-457200" algn="l">
              <a:buAutoNum type="arabicParenR"/>
            </a:pPr>
            <a:r>
              <a:rPr lang="zh-CN" altLang="en-US" dirty="0"/>
              <a:t>核心技术：迭代级调度，选择性批处理</a:t>
            </a:r>
            <a:endParaRPr lang="en-US" altLang="zh-CN" dirty="0"/>
          </a:p>
          <a:p>
            <a:pPr marL="457200" indent="-457200" algn="l">
              <a:buAutoNum type="arabicParenR"/>
            </a:pPr>
            <a:r>
              <a:rPr lang="zh-CN" altLang="en-US" dirty="0"/>
              <a:t>挑战：</a:t>
            </a:r>
          </a:p>
          <a:p>
            <a:pPr marL="914400" lvl="1" indent="-457200" algn="l">
              <a:buAutoNum type="arabicParenR"/>
            </a:pPr>
            <a:r>
              <a:rPr lang="zh-CN" altLang="en-US" dirty="0"/>
              <a:t>批次中早结束的请求无法返回给客户端</a:t>
            </a:r>
            <a:r>
              <a:rPr lang="en-US" altLang="zh-CN" dirty="0"/>
              <a:t>(early finishing)</a:t>
            </a:r>
          </a:p>
          <a:p>
            <a:pPr marL="914400" lvl="1" indent="-457200" algn="l">
              <a:buAutoNum type="arabicParenR"/>
            </a:pPr>
            <a:r>
              <a:rPr lang="zh-CN" altLang="en-US" dirty="0"/>
              <a:t>新到达的请求必须 </a:t>
            </a:r>
            <a:r>
              <a:rPr lang="en-US" altLang="zh-CN" dirty="0"/>
              <a:t>(late-joining) </a:t>
            </a:r>
            <a:r>
              <a:rPr lang="zh-CN" altLang="en-US" dirty="0"/>
              <a:t>等待上一个批次中最长请求完成才可以被处理</a:t>
            </a:r>
          </a:p>
          <a:p>
            <a:pPr marL="914400" lvl="1" indent="-457200" algn="l">
              <a:buAutoNum type="arabicParenR"/>
            </a:pPr>
            <a:r>
              <a:rPr lang="zh-CN" altLang="en-US" dirty="0"/>
              <a:t>就算里面已经有大量已经完成的请求，也不能将他们替换</a:t>
            </a:r>
            <a:r>
              <a:rPr lang="en-US" altLang="zh-CN" dirty="0"/>
              <a:t>/</a:t>
            </a:r>
            <a:r>
              <a:rPr lang="zh-CN" altLang="en-US" dirty="0"/>
              <a:t>插空</a:t>
            </a:r>
            <a:endParaRPr lang="en-US" altLang="zh-CN" dirty="0"/>
          </a:p>
          <a:p>
            <a:pPr marL="457200" indent="-457200" algn="l">
              <a:buAutoNum type="arabicParenR"/>
            </a:pPr>
            <a:r>
              <a:rPr lang="zh-CN" altLang="en-US" dirty="0"/>
              <a:t>系统架构</a:t>
            </a:r>
            <a:endParaRPr lang="en-US" altLang="zh-CN" dirty="0"/>
          </a:p>
          <a:p>
            <a:pPr marL="457200" indent="-457200" algn="l">
              <a:buAutoNum type="arabicParenR"/>
            </a:pPr>
            <a:r>
              <a:rPr lang="zh-CN" altLang="en-US" dirty="0"/>
              <a:t>流水线调度</a:t>
            </a:r>
          </a:p>
        </p:txBody>
      </p:sp>
    </p:spTree>
    <p:extLst>
      <p:ext uri="{BB962C8B-B14F-4D97-AF65-F5344CB8AC3E}">
        <p14:creationId xmlns:p14="http://schemas.microsoft.com/office/powerpoint/2010/main" val="257766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61E52-753F-7DBB-A862-CD78F594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ORCA</a:t>
            </a:r>
            <a:r>
              <a:rPr lang="zh-CN" altLang="en-US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：核心思想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3388F-E7BA-6951-66FF-4487F1EB9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421" y="4512364"/>
            <a:ext cx="10515600" cy="1366449"/>
          </a:xfrm>
        </p:spPr>
        <p:txBody>
          <a:bodyPr/>
          <a:lstStyle/>
          <a:p>
            <a:r>
              <a:rPr lang="zh-CN" altLang="en-US" sz="2400" b="0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实现迭代级调度：避免短请求等长请求、避免新请求等候老请求</a:t>
            </a:r>
            <a:endParaRPr lang="en-US" altLang="zh-CN" sz="2400" b="0" i="0" dirty="0">
              <a:solidFill>
                <a:srgbClr val="0066CC"/>
              </a:solidFill>
              <a:effectLst/>
              <a:latin typeface="Roboto" panose="02000000000000000000" pitchFamily="2" charset="0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71C20C-8F24-6552-9685-68CF42C14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485" y="1240586"/>
            <a:ext cx="5972746" cy="31624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3E171E3-3193-50A6-B881-FC508650B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73163"/>
            <a:ext cx="10470379" cy="103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AF546-501D-F0E1-1E66-F1259D3A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ORCA</a:t>
            </a:r>
            <a:r>
              <a:rPr lang="zh-CN" altLang="en-US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：核心思想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1932B4-4634-59D6-7A85-B5FC04FB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460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迭代级调度面临难题：</a:t>
            </a:r>
            <a:endParaRPr lang="en-US" altLang="zh-CN" sz="1800" dirty="0"/>
          </a:p>
          <a:p>
            <a:pPr lvl="1"/>
            <a:r>
              <a:rPr lang="zh-CN" altLang="en-US" sz="1600" dirty="0"/>
              <a:t>不同请求张量维度不同，导致无法并行：</a:t>
            </a:r>
            <a:endParaRPr lang="en-US" altLang="zh-CN" sz="1600" dirty="0"/>
          </a:p>
          <a:p>
            <a:pPr lvl="2"/>
            <a:r>
              <a:rPr lang="zh-CN" altLang="en-US" sz="1600" dirty="0"/>
              <a:t>两个长度不同的预填充请求</a:t>
            </a:r>
            <a:endParaRPr lang="en-US" altLang="zh-CN" sz="1600" dirty="0"/>
          </a:p>
          <a:p>
            <a:pPr lvl="2"/>
            <a:r>
              <a:rPr lang="zh-CN" altLang="en-US" sz="1600" dirty="0"/>
              <a:t>两个前序</a:t>
            </a:r>
            <a:r>
              <a:rPr lang="en-US" altLang="zh-CN" sz="1600" dirty="0"/>
              <a:t>token(K/V</a:t>
            </a:r>
            <a:r>
              <a:rPr lang="zh-CN" altLang="en-US" sz="1600" dirty="0"/>
              <a:t>缓存</a:t>
            </a:r>
            <a:r>
              <a:rPr lang="en-US" altLang="zh-CN" sz="1600" dirty="0"/>
              <a:t>)</a:t>
            </a:r>
            <a:r>
              <a:rPr lang="zh-CN" altLang="en-US" sz="1600" dirty="0"/>
              <a:t>长度不同的解码</a:t>
            </a:r>
            <a:endParaRPr lang="en-US" altLang="zh-CN" sz="1600" dirty="0"/>
          </a:p>
          <a:p>
            <a:r>
              <a:rPr lang="zh-CN" altLang="en-US" sz="1800" dirty="0"/>
              <a:t>处理方法：</a:t>
            </a:r>
            <a:endParaRPr lang="en-US" altLang="zh-CN" sz="1800" dirty="0"/>
          </a:p>
          <a:p>
            <a:pPr lvl="1"/>
            <a:r>
              <a:rPr lang="zh-CN" altLang="en-US" sz="1600" dirty="0"/>
              <a:t>能一起做就一起做：长度相同的预填充和  前序</a:t>
            </a:r>
            <a:r>
              <a:rPr lang="en-US" altLang="zh-CN" sz="1600" dirty="0"/>
              <a:t>token</a:t>
            </a:r>
            <a:r>
              <a:rPr lang="zh-CN" altLang="en-US" sz="1600" dirty="0"/>
              <a:t>长度相同的解码 分组做迭代级批处理</a:t>
            </a:r>
            <a:endParaRPr lang="en-US" altLang="zh-CN" sz="1600" dirty="0"/>
          </a:p>
          <a:p>
            <a:pPr lvl="1"/>
            <a:r>
              <a:rPr lang="zh-CN" altLang="en-US" sz="1600" dirty="0"/>
              <a:t>有点希望的想办法一起做：长度不同 的预填充 和前序</a:t>
            </a:r>
            <a:r>
              <a:rPr lang="en-US" altLang="zh-CN" sz="1600" dirty="0"/>
              <a:t>token</a:t>
            </a:r>
            <a:r>
              <a:rPr lang="zh-CN" altLang="en-US" sz="1600" dirty="0"/>
              <a:t>不同的解码 在注意力层和</a:t>
            </a:r>
            <a:r>
              <a:rPr lang="en-US" altLang="zh-CN" sz="1600" dirty="0" err="1"/>
              <a:t>layerNorm</a:t>
            </a:r>
            <a:r>
              <a:rPr lang="zh-CN" altLang="en-US" sz="1600" dirty="0"/>
              <a:t>分开做，在</a:t>
            </a:r>
            <a:r>
              <a:rPr lang="en-US" altLang="zh-CN" sz="1600" dirty="0"/>
              <a:t>FFN</a:t>
            </a:r>
            <a:r>
              <a:rPr lang="zh-CN" altLang="en-US" sz="1600" dirty="0"/>
              <a:t>层和位置编码层、词嵌入层、全连接层使用</a:t>
            </a:r>
            <a:r>
              <a:rPr lang="en-US" altLang="zh-CN" sz="1600" dirty="0"/>
              <a:t>flatten</a:t>
            </a:r>
            <a:r>
              <a:rPr lang="zh-CN" altLang="en-US" sz="1600" dirty="0"/>
              <a:t>拉平做批处理</a:t>
            </a:r>
            <a:endParaRPr lang="en-US" altLang="zh-CN" sz="1600" dirty="0"/>
          </a:p>
          <a:p>
            <a:pPr lvl="1"/>
            <a:r>
              <a:rPr lang="zh-CN" altLang="en-US" sz="1600" dirty="0"/>
              <a:t>没希望的尽量分开做：预填充和解码尽量不放到一起，如果实在放到一起了就把预填充分配到高计算</a:t>
            </a:r>
            <a:r>
              <a:rPr lang="en-US" altLang="zh-CN" sz="1600" dirty="0"/>
              <a:t>GPU</a:t>
            </a:r>
            <a:r>
              <a:rPr lang="zh-CN" altLang="en-US" sz="1600" dirty="0"/>
              <a:t>，解码放到一般</a:t>
            </a:r>
            <a:r>
              <a:rPr lang="en-US" altLang="zh-CN" sz="1600" dirty="0"/>
              <a:t>GPU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E17B53-BC89-22B5-A0B7-C568A14428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868"/>
          <a:stretch/>
        </p:blipFill>
        <p:spPr>
          <a:xfrm>
            <a:off x="5998464" y="143672"/>
            <a:ext cx="5734438" cy="343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10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DB582-C0F6-ACD4-BC0E-009F5994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ORCA</a:t>
            </a:r>
            <a:r>
              <a:rPr lang="zh-CN" altLang="en-US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：架构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46942-8903-D563-2EB6-3C133394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ORCA</a:t>
            </a:r>
            <a:r>
              <a:rPr lang="zh-CN" altLang="en-US" dirty="0"/>
              <a:t>架构</a:t>
            </a:r>
            <a:endParaRPr lang="en-US" altLang="zh-CN" dirty="0"/>
          </a:p>
          <a:p>
            <a:pPr lvl="1"/>
            <a:r>
              <a:rPr lang="zh-CN" altLang="en-US" dirty="0"/>
              <a:t>调度器调度这批请求</a:t>
            </a:r>
            <a:endParaRPr lang="en-US" altLang="zh-CN" dirty="0"/>
          </a:p>
          <a:p>
            <a:pPr lvl="1"/>
            <a:r>
              <a:rPr lang="en-US" altLang="zh-CN" dirty="0"/>
              <a:t>Engine Master</a:t>
            </a:r>
            <a:r>
              <a:rPr lang="zh-CN" altLang="en-US" dirty="0"/>
              <a:t>发给</a:t>
            </a:r>
            <a:r>
              <a:rPr lang="en-US" altLang="zh-CN" dirty="0"/>
              <a:t>worker 1</a:t>
            </a:r>
          </a:p>
          <a:p>
            <a:pPr lvl="1"/>
            <a:r>
              <a:rPr lang="en-US" altLang="zh-CN" dirty="0"/>
              <a:t>Worker 1</a:t>
            </a:r>
            <a:r>
              <a:rPr lang="zh-CN" altLang="en-US" dirty="0"/>
              <a:t>接收并解析</a:t>
            </a:r>
            <a:endParaRPr lang="en-US" altLang="zh-CN" dirty="0"/>
          </a:p>
          <a:p>
            <a:pPr lvl="2"/>
            <a:r>
              <a:rPr lang="zh-CN" altLang="en-US" dirty="0"/>
              <a:t>异步执行下面两个操作</a:t>
            </a:r>
            <a:endParaRPr lang="en-US" altLang="zh-CN" dirty="0"/>
          </a:p>
          <a:p>
            <a:pPr lvl="2"/>
            <a:r>
              <a:rPr lang="zh-CN" altLang="en-US" dirty="0"/>
              <a:t>发送核函数给</a:t>
            </a:r>
            <a:r>
              <a:rPr lang="en-US" altLang="zh-CN" dirty="0"/>
              <a:t>GPU</a:t>
            </a:r>
          </a:p>
          <a:p>
            <a:pPr lvl="2"/>
            <a:r>
              <a:rPr lang="zh-CN" altLang="en-US" dirty="0"/>
              <a:t>发信息给</a:t>
            </a:r>
            <a:r>
              <a:rPr lang="en-US" altLang="zh-CN" dirty="0"/>
              <a:t>worker2</a:t>
            </a:r>
          </a:p>
          <a:p>
            <a:pPr lvl="1"/>
            <a:r>
              <a:rPr lang="en-US" altLang="zh-CN" dirty="0"/>
              <a:t>Worker2</a:t>
            </a:r>
            <a:r>
              <a:rPr lang="zh-CN" altLang="en-US" dirty="0"/>
              <a:t>解析，执行核函数</a:t>
            </a:r>
            <a:endParaRPr lang="en-US" altLang="zh-CN" dirty="0"/>
          </a:p>
          <a:p>
            <a:pPr lvl="1"/>
            <a:r>
              <a:rPr lang="en-US" altLang="zh-CN" dirty="0"/>
              <a:t>Worker2</a:t>
            </a:r>
            <a:r>
              <a:rPr lang="zh-CN" altLang="en-US" dirty="0"/>
              <a:t>同步等待，返回给</a:t>
            </a:r>
            <a:r>
              <a:rPr lang="en-US" altLang="zh-CN" dirty="0"/>
              <a:t>Engine Master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67FE6DD-A0BF-98E2-4AE9-7210D64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855" y="1233418"/>
            <a:ext cx="7483488" cy="38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3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0B72C-FD5F-E9F4-38B4-763C31F3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ORCA</a:t>
            </a:r>
            <a:r>
              <a:rPr lang="zh-CN" altLang="en-US" dirty="0"/>
              <a:t>的进一步改进：</a:t>
            </a:r>
            <a:r>
              <a:rPr lang="en-US" altLang="zh-CN" dirty="0" err="1"/>
              <a:t>Sarathi</a:t>
            </a:r>
            <a:r>
              <a:rPr lang="en-US" altLang="zh-CN" dirty="0"/>
              <a:t>——</a:t>
            </a:r>
            <a:r>
              <a:rPr lang="zh-CN" altLang="en-US" dirty="0"/>
              <a:t>分块预填充技术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382514-E8D1-D6FE-E61B-C8D757D7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）两个挑战</a:t>
            </a:r>
            <a:endParaRPr lang="en-US" altLang="zh-CN" dirty="0"/>
          </a:p>
          <a:p>
            <a:pPr lvl="1"/>
            <a:r>
              <a:rPr lang="en-US" altLang="zh-CN" dirty="0"/>
              <a:t>ORCA</a:t>
            </a:r>
            <a:r>
              <a:rPr lang="zh-CN" altLang="en-US" dirty="0"/>
              <a:t>的流水线气泡问题</a:t>
            </a:r>
            <a:endParaRPr lang="en-US" altLang="zh-CN" dirty="0"/>
          </a:p>
          <a:p>
            <a:pPr lvl="1"/>
            <a:r>
              <a:rPr lang="zh-CN" altLang="en-US" dirty="0"/>
              <a:t>两阶段特性不同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3D1326-D2FC-7654-360D-955949FB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" y="3473817"/>
            <a:ext cx="12192000" cy="240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5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0B72C-FD5F-E9F4-38B4-763C31F3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Sarathi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D975FF-74F3-4D65-225D-0CC5A04FC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15" y="0"/>
            <a:ext cx="9331377" cy="6858000"/>
          </a:xfrm>
          <a:prstGeom prst="rect">
            <a:avLst/>
          </a:prstGeom>
        </p:spPr>
      </p:pic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8C88AF1-9999-994A-DDBB-51A1A967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分块预填充</a:t>
            </a:r>
            <a:endParaRPr lang="en-US" altLang="zh-CN" dirty="0"/>
          </a:p>
          <a:p>
            <a:r>
              <a:rPr lang="zh-CN" altLang="en-US" dirty="0"/>
              <a:t>解码搭载预填充块</a:t>
            </a:r>
          </a:p>
        </p:txBody>
      </p:sp>
    </p:spTree>
    <p:extLst>
      <p:ext uri="{BB962C8B-B14F-4D97-AF65-F5344CB8AC3E}">
        <p14:creationId xmlns:p14="http://schemas.microsoft.com/office/powerpoint/2010/main" val="284765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FFD5F-6E08-4464-709C-7765AD5A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第二篇系统：</a:t>
            </a:r>
            <a:r>
              <a:rPr lang="en-US" altLang="zh-CN" dirty="0" err="1"/>
              <a:t>Sarathi</a:t>
            </a:r>
            <a:r>
              <a:rPr lang="en-US" altLang="zh-CN" dirty="0"/>
              <a:t>-Serve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D4125D-63FE-96A3-B24F-85C79CF5F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[18th OSDI 2024]  Taming Throughput-Latency Tradeoff in LLM Inference with </a:t>
            </a:r>
            <a:r>
              <a:rPr lang="en-US" altLang="zh-CN" dirty="0" err="1"/>
              <a:t>Sarathi</a:t>
            </a:r>
            <a:r>
              <a:rPr lang="en-US" altLang="zh-CN" dirty="0"/>
              <a:t>-Serve</a:t>
            </a:r>
          </a:p>
          <a:p>
            <a:pPr lvl="1"/>
            <a:r>
              <a:rPr lang="en-US" altLang="zh-CN" dirty="0" err="1"/>
              <a:t>Sarathi</a:t>
            </a:r>
            <a:r>
              <a:rPr lang="en-US" altLang="zh-CN" dirty="0"/>
              <a:t>-Serve</a:t>
            </a:r>
            <a:r>
              <a:rPr lang="zh-CN" altLang="en-US" dirty="0"/>
              <a:t>是一个平衡吞吐量和延迟，使用分块预填充和无停顿调度技术的调度器。虽然说是一个调度器，但其实没有具体的系统设计，还是跟</a:t>
            </a:r>
            <a:r>
              <a:rPr lang="en-US" altLang="zh-CN" dirty="0" err="1"/>
              <a:t>Sarathi</a:t>
            </a:r>
            <a:r>
              <a:rPr lang="zh-CN" altLang="en-US" dirty="0"/>
              <a:t>类似的一个算法性质的文章。</a:t>
            </a:r>
          </a:p>
        </p:txBody>
      </p:sp>
    </p:spTree>
    <p:extLst>
      <p:ext uri="{BB962C8B-B14F-4D97-AF65-F5344CB8AC3E}">
        <p14:creationId xmlns:p14="http://schemas.microsoft.com/office/powerpoint/2010/main" val="350577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FFD5F-6E08-4464-709C-7765AD5A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第二篇系统：</a:t>
            </a:r>
            <a:r>
              <a:rPr lang="en-US" altLang="zh-CN" dirty="0" err="1"/>
              <a:t>Sarathi</a:t>
            </a:r>
            <a:r>
              <a:rPr lang="en-US" altLang="zh-CN" dirty="0"/>
              <a:t>-Serve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A658646-10A4-C215-616C-6A9639705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398" y="1253331"/>
            <a:ext cx="7770647" cy="4351338"/>
          </a:xfrm>
        </p:spPr>
      </p:pic>
    </p:spTree>
    <p:extLst>
      <p:ext uri="{BB962C8B-B14F-4D97-AF65-F5344CB8AC3E}">
        <p14:creationId xmlns:p14="http://schemas.microsoft.com/office/powerpoint/2010/main" val="403411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E0852-CAB2-786D-33AE-77C5BB65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第三篇系统 </a:t>
            </a:r>
            <a:r>
              <a:rPr lang="en-US" altLang="zh-CN" dirty="0" err="1"/>
              <a:t>SplitWise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87F358D-346E-B259-492C-71EFF8E9B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754981"/>
            <a:ext cx="10287000" cy="3895725"/>
          </a:xfrm>
        </p:spPr>
      </p:pic>
    </p:spTree>
    <p:extLst>
      <p:ext uri="{BB962C8B-B14F-4D97-AF65-F5344CB8AC3E}">
        <p14:creationId xmlns:p14="http://schemas.microsoft.com/office/powerpoint/2010/main" val="152619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E0852-CAB2-786D-33AE-77C5BB65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SplitWise</a:t>
            </a:r>
            <a:r>
              <a:rPr lang="en-US" altLang="zh-CN" dirty="0"/>
              <a:t> </a:t>
            </a:r>
            <a:r>
              <a:rPr lang="zh-CN" altLang="en-US" dirty="0"/>
              <a:t>系统架构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71C3033-1AA2-1784-DF93-30B90041F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CLS</a:t>
            </a:r>
            <a:r>
              <a:rPr lang="zh-CN" altLang="en-US" dirty="0"/>
              <a:t>调度：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、机器池管理</a:t>
            </a:r>
            <a:r>
              <a:rPr lang="en-US" altLang="zh-CN" dirty="0"/>
              <a:t>Machine pool management</a:t>
            </a:r>
          </a:p>
          <a:p>
            <a:pPr lvl="2"/>
            <a:r>
              <a:rPr lang="zh-CN" altLang="en-US" dirty="0"/>
              <a:t>静态预先分配</a:t>
            </a:r>
            <a:endParaRPr lang="en-US" altLang="zh-CN" dirty="0"/>
          </a:p>
          <a:p>
            <a:pPr lvl="2"/>
            <a:r>
              <a:rPr lang="zh-CN" altLang="en-US" dirty="0"/>
              <a:t>动态运行分配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 Request routing </a:t>
            </a:r>
            <a:r>
              <a:rPr lang="zh-CN" altLang="en-US" dirty="0"/>
              <a:t>请求路由分配</a:t>
            </a:r>
            <a:endParaRPr lang="en-US" altLang="zh-CN" dirty="0"/>
          </a:p>
          <a:p>
            <a:r>
              <a:rPr lang="en-US" altLang="zh-CN" dirty="0"/>
              <a:t>MLS</a:t>
            </a:r>
            <a:r>
              <a:rPr lang="zh-CN" altLang="en-US" dirty="0"/>
              <a:t>调度：</a:t>
            </a:r>
            <a:r>
              <a:rPr lang="en-US" altLang="zh-CN" dirty="0"/>
              <a:t>	</a:t>
            </a:r>
          </a:p>
          <a:p>
            <a:pPr lvl="1"/>
            <a:r>
              <a:rPr lang="en-US" altLang="zh-CN" dirty="0"/>
              <a:t>Prompt machine</a:t>
            </a:r>
          </a:p>
          <a:p>
            <a:pPr lvl="1"/>
            <a:r>
              <a:rPr lang="en-US" altLang="zh-CN" dirty="0"/>
              <a:t>token machine </a:t>
            </a:r>
          </a:p>
          <a:p>
            <a:pPr lvl="1"/>
            <a:r>
              <a:rPr lang="en-US" altLang="zh-CN" dirty="0"/>
              <a:t>Mixed machines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9C6796-FB18-98F2-6FBC-6A2EFF22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44" y="547387"/>
            <a:ext cx="5772669" cy="58788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B56AD8B-A1EF-A1EF-3E90-ED833CB0C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547387"/>
            <a:ext cx="80295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6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E0852-CAB2-786D-33AE-77C5BB65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SplitWise</a:t>
            </a:r>
            <a:r>
              <a:rPr lang="en-US" altLang="zh-CN" dirty="0"/>
              <a:t> KV cache</a:t>
            </a:r>
            <a:r>
              <a:rPr lang="zh-CN" altLang="en-US" dirty="0"/>
              <a:t>传输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E70DACB-ECDA-8FE5-456D-B36265B6C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725" y="1593056"/>
            <a:ext cx="9734550" cy="4219575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B8520D2-AA45-F882-38AF-E100A0C33E7D}"/>
              </a:ext>
            </a:extLst>
          </p:cNvPr>
          <p:cNvSpPr txBox="1"/>
          <p:nvPr/>
        </p:nvSpPr>
        <p:spPr>
          <a:xfrm>
            <a:off x="1309480" y="5902083"/>
            <a:ext cx="10438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文章总体写的比较好，对CLS级别调度和MLS级别调度描述都非常清楚，作为一片系统级别的文章，系统结构也非常清楚。</a:t>
            </a:r>
          </a:p>
        </p:txBody>
      </p:sp>
    </p:spTree>
    <p:extLst>
      <p:ext uri="{BB962C8B-B14F-4D97-AF65-F5344CB8AC3E}">
        <p14:creationId xmlns:p14="http://schemas.microsoft.com/office/powerpoint/2010/main" val="117217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C382C-DAB2-202D-5D2C-9F914E94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200" b="1" dirty="0" err="1"/>
              <a:t>DistServe</a:t>
            </a:r>
            <a:r>
              <a:rPr lang="en-US" altLang="zh-CN" sz="3200" b="1" dirty="0"/>
              <a:t> </a:t>
            </a:r>
            <a:r>
              <a:rPr lang="en-US" altLang="zh-CN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zh-CN" altLang="en-US" b="1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问题背景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436DE2-C50B-656F-8554-0A1B0CF91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9897"/>
            <a:ext cx="10515600" cy="311335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zh-CN" altLang="en-US" sz="2800" b="0" i="0" dirty="0">
                <a:solidFill>
                  <a:srgbClr val="0066CC"/>
                </a:solidFill>
                <a:effectLst/>
                <a:latin typeface="Roboto" panose="02000000000000000000" pitchFamily="2" charset="0"/>
              </a:rPr>
              <a:t>预填充解码耦合</a:t>
            </a:r>
            <a:endParaRPr lang="en-US" altLang="zh-CN" sz="2800" dirty="0">
              <a:solidFill>
                <a:srgbClr val="0066CC"/>
              </a:solidFill>
              <a:latin typeface="Roboto" panose="020000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A8C775-01B0-BDEC-8B45-76E602617A42}"/>
              </a:ext>
            </a:extLst>
          </p:cNvPr>
          <p:cNvSpPr txBox="1"/>
          <p:nvPr/>
        </p:nvSpPr>
        <p:spPr>
          <a:xfrm>
            <a:off x="520896" y="1413621"/>
            <a:ext cx="114545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2024 OSDI {</a:t>
            </a:r>
            <a:r>
              <a:rPr lang="en-US" altLang="zh-CN" sz="2800" b="1" dirty="0" err="1"/>
              <a:t>DistServe</a:t>
            </a:r>
            <a:r>
              <a:rPr lang="en-US" altLang="zh-CN" sz="2800" b="1" dirty="0"/>
              <a:t>}: Disaggregating prefill and decoding for goodput-optimized large language model serving</a:t>
            </a:r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812E59-2AD4-3177-BF61-B0FE1F3BD1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11"/>
          <a:stretch/>
        </p:blipFill>
        <p:spPr>
          <a:xfrm>
            <a:off x="3383280" y="2809930"/>
            <a:ext cx="6955888" cy="31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42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C6C7C-4F3F-60C7-DD53-66CD18B7D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err="1"/>
              <a:t>DistServe</a:t>
            </a:r>
            <a:r>
              <a:rPr lang="en-US" altLang="zh-CN" sz="3200" b="1" dirty="0"/>
              <a:t> </a:t>
            </a:r>
            <a:r>
              <a:rPr lang="zh-CN" altLang="en-US" b="1" i="0" dirty="0">
                <a:solidFill>
                  <a:srgbClr val="0066CC"/>
                </a:solidFill>
                <a:effectLst/>
                <a:highlight>
                  <a:srgbClr val="F5F9FF"/>
                </a:highlight>
                <a:latin typeface="Roboto" panose="02000000000000000000" pitchFamily="2" charset="0"/>
              </a:rPr>
              <a:t>：核心思想</a:t>
            </a:r>
            <a:br>
              <a:rPr lang="zh-CN" altLang="en-US" b="1" i="0" dirty="0">
                <a:solidFill>
                  <a:srgbClr val="0066CC"/>
                </a:solidFill>
                <a:effectLst/>
                <a:highlight>
                  <a:srgbClr val="F5F9FF"/>
                </a:highlight>
                <a:latin typeface="Roboto" panose="02000000000000000000" pitchFamily="2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E2BD99-0A67-653D-BFC7-E910D91A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04D99"/>
                </a:solidFill>
                <a:effectLst/>
                <a:highlight>
                  <a:srgbClr val="F5F9FF"/>
                </a:highlight>
                <a:latin typeface="Roboto" panose="02000000000000000000" pitchFamily="2" charset="0"/>
              </a:rPr>
              <a:t>- </a:t>
            </a:r>
            <a:r>
              <a:rPr lang="zh-CN" altLang="en-US" b="1" i="0" dirty="0">
                <a:solidFill>
                  <a:srgbClr val="004D99"/>
                </a:solidFill>
                <a:effectLst/>
                <a:highlight>
                  <a:srgbClr val="F5F9FF"/>
                </a:highlight>
                <a:latin typeface="Roboto" panose="02000000000000000000" pitchFamily="2" charset="0"/>
              </a:rPr>
              <a:t>分解架构：</a:t>
            </a:r>
            <a:endParaRPr lang="en-US" altLang="zh-CN" b="1" i="0" dirty="0">
              <a:solidFill>
                <a:srgbClr val="004D99"/>
              </a:solidFill>
              <a:effectLst/>
              <a:highlight>
                <a:srgbClr val="F5F9FF"/>
              </a:highlight>
              <a:latin typeface="Roboto" panose="02000000000000000000" pitchFamily="2" charset="0"/>
            </a:endParaRPr>
          </a:p>
          <a:p>
            <a:pPr lvl="1"/>
            <a:r>
              <a:rPr lang="zh-CN" altLang="en-US" sz="1600" dirty="0"/>
              <a:t>将预填充应用于独立的GPU组(A100)，</a:t>
            </a:r>
            <a:endParaRPr lang="en-US" altLang="zh-CN" sz="1600" dirty="0"/>
          </a:p>
          <a:p>
            <a:pPr lvl="1"/>
            <a:r>
              <a:rPr lang="zh-CN" altLang="en-US" sz="1600" dirty="0"/>
              <a:t>解码应用于独立的GPU组（H100）</a:t>
            </a:r>
            <a:endParaRPr lang="zh-CN" altLang="en-US" b="1" i="0" dirty="0">
              <a:solidFill>
                <a:srgbClr val="004D99"/>
              </a:solidFill>
              <a:effectLst/>
              <a:highlight>
                <a:srgbClr val="F5F9FF"/>
              </a:highligh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04D99"/>
                </a:solidFill>
                <a:effectLst/>
                <a:highlight>
                  <a:srgbClr val="F5F9FF"/>
                </a:highlight>
                <a:latin typeface="Roboto" panose="02000000000000000000" pitchFamily="2" charset="0"/>
              </a:rPr>
              <a:t>-</a:t>
            </a:r>
            <a:r>
              <a:rPr lang="zh-CN" altLang="en-US" b="1" i="0" dirty="0">
                <a:solidFill>
                  <a:srgbClr val="004D99"/>
                </a:solidFill>
                <a:effectLst/>
                <a:highlight>
                  <a:srgbClr val="F5F9FF"/>
                </a:highlight>
                <a:latin typeface="Roboto" panose="02000000000000000000" pitchFamily="2" charset="0"/>
              </a:rPr>
              <a:t>并行策略的探索</a:t>
            </a:r>
            <a:endParaRPr lang="en-US" altLang="zh-CN" b="1" i="0" dirty="0">
              <a:solidFill>
                <a:srgbClr val="004D99"/>
              </a:solidFill>
              <a:effectLst/>
              <a:highlight>
                <a:srgbClr val="F5F9FF"/>
              </a:highlight>
              <a:latin typeface="Roboto" panose="02000000000000000000" pitchFamily="2" charset="0"/>
            </a:endParaRPr>
          </a:p>
          <a:p>
            <a:pPr lvl="1"/>
            <a:r>
              <a:rPr lang="zh-CN" altLang="en-US" b="1" dirty="0">
                <a:solidFill>
                  <a:srgbClr val="004D99"/>
                </a:solidFill>
                <a:highlight>
                  <a:srgbClr val="F5F9FF"/>
                </a:highlight>
                <a:latin typeface="Roboto" panose="02000000000000000000" pitchFamily="2" charset="0"/>
              </a:rPr>
              <a:t>预填充</a:t>
            </a:r>
            <a:endParaRPr lang="en-US" altLang="zh-CN" b="1" i="0" dirty="0">
              <a:solidFill>
                <a:srgbClr val="004D99"/>
              </a:solidFill>
              <a:effectLst/>
              <a:highlight>
                <a:srgbClr val="F5F9FF"/>
              </a:highligh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dirty="0"/>
              <a:t>在较低的请求速率到来时，使用张量并行效果更好；</a:t>
            </a:r>
            <a:endParaRPr lang="en-US" altLang="zh-CN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dirty="0"/>
              <a:t>当请求以较高速率到来且需要排队时，流水线并行效果更好。</a:t>
            </a:r>
            <a:endParaRPr lang="en-US" altLang="zh-CN" sz="1600" dirty="0"/>
          </a:p>
          <a:p>
            <a: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D99"/>
                </a:solidFill>
                <a:effectLst/>
                <a:highlight>
                  <a:srgbClr val="F5F9FF"/>
                </a:highlight>
                <a:uLnTx/>
                <a:uFillTx/>
                <a:latin typeface="Roboto" panose="02000000000000000000" pitchFamily="2" charset="0"/>
                <a:ea typeface="黑体" panose="02010609060101010101" pitchFamily="49" charset="-122"/>
                <a:cs typeface="+mn-cs"/>
              </a:rPr>
              <a:t>解码</a:t>
            </a:r>
            <a:endParaRPr lang="en-US" altLang="zh-CN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dirty="0"/>
              <a:t>当 </a:t>
            </a:r>
            <a:r>
              <a:rPr lang="en-US" altLang="zh-CN" sz="1600" dirty="0"/>
              <a:t>TPOT SLO </a:t>
            </a:r>
            <a:r>
              <a:rPr lang="zh-CN" altLang="en-US" sz="1600" dirty="0"/>
              <a:t>严格时，张量并行并行对于降低 </a:t>
            </a:r>
            <a:r>
              <a:rPr lang="en-US" altLang="zh-CN" sz="1600" dirty="0"/>
              <a:t>TPOT </a:t>
            </a:r>
            <a:r>
              <a:rPr lang="zh-CN" altLang="en-US" sz="1600" dirty="0"/>
              <a:t>并满足延迟目标至关重要</a:t>
            </a:r>
            <a:endParaRPr lang="en-US" altLang="zh-CN" sz="1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dirty="0"/>
              <a:t>除此之外，流水线并行对于线性提升吞吐量更为有利。</a:t>
            </a:r>
            <a:endParaRPr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D0272F-F609-76DA-7AF1-EA446473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74" y="871783"/>
            <a:ext cx="5316930" cy="312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11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8929A-4BE7-6528-FE6A-9EA2884A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第五篇系统 </a:t>
            </a:r>
            <a:r>
              <a:rPr lang="en-US" altLang="zh-CN" dirty="0"/>
              <a:t>MoonCake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B49CE-C1AC-8909-B93F-7697A4BB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FAST 2025</a:t>
            </a:r>
            <a:r>
              <a:rPr lang="zh-CN" altLang="en-US" dirty="0"/>
              <a:t>最佳论文：</a:t>
            </a:r>
            <a:r>
              <a:rPr lang="en-US" altLang="zh-CN" dirty="0"/>
              <a:t>Mooncake: Trading More Storage for Less Computation—A {</a:t>
            </a:r>
            <a:r>
              <a:rPr lang="en-US" altLang="zh-CN" dirty="0" err="1"/>
              <a:t>KVCache</a:t>
            </a:r>
            <a:r>
              <a:rPr lang="en-US" altLang="zh-CN" dirty="0"/>
              <a:t>-centric} Architecture for Serving {LLM} Chatbot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32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8929A-4BE7-6528-FE6A-9EA2884A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MoonCake </a:t>
            </a:r>
            <a:r>
              <a:rPr lang="zh-CN" altLang="en-US" dirty="0"/>
              <a:t> 整体架构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B16B3EA-9B33-5A76-0F8A-BEAB396E9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360" y="1224145"/>
            <a:ext cx="9626600" cy="5355890"/>
          </a:xfrm>
        </p:spPr>
      </p:pic>
    </p:spTree>
    <p:extLst>
      <p:ext uri="{BB962C8B-B14F-4D97-AF65-F5344CB8AC3E}">
        <p14:creationId xmlns:p14="http://schemas.microsoft.com/office/powerpoint/2010/main" val="1644584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8929A-4BE7-6528-FE6A-9EA2884A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MoonCake </a:t>
            </a:r>
            <a:r>
              <a:rPr lang="zh-CN" altLang="en-US" dirty="0"/>
              <a:t> </a:t>
            </a:r>
            <a:r>
              <a:rPr lang="en-US" altLang="zh-CN" dirty="0"/>
              <a:t>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63A5B-D5C1-8850-7866-F6EA30836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1) </a:t>
            </a:r>
            <a:r>
              <a:rPr lang="en-US" altLang="zh-CN" dirty="0" err="1"/>
              <a:t>KVCache</a:t>
            </a:r>
            <a:r>
              <a:rPr lang="en-US" altLang="zh-CN" dirty="0"/>
              <a:t> Reuse</a:t>
            </a:r>
            <a:endParaRPr lang="zh-CN" altLang="en-US" dirty="0"/>
          </a:p>
          <a:p>
            <a:r>
              <a:rPr lang="en-US" altLang="zh-CN" dirty="0"/>
              <a:t>2) Incremental Prefill</a:t>
            </a:r>
            <a:endParaRPr lang="zh-CN" altLang="en-US" dirty="0"/>
          </a:p>
          <a:p>
            <a:r>
              <a:rPr lang="en-US" altLang="zh-CN" dirty="0"/>
              <a:t>3) </a:t>
            </a:r>
            <a:r>
              <a:rPr lang="en-US" altLang="zh-CN" dirty="0" err="1"/>
              <a:t>KVCache</a:t>
            </a:r>
            <a:r>
              <a:rPr lang="en-US" altLang="zh-CN" dirty="0"/>
              <a:t> Transfer</a:t>
            </a:r>
            <a:endParaRPr lang="zh-CN" altLang="en-US" dirty="0"/>
          </a:p>
          <a:p>
            <a:r>
              <a:rPr lang="en-US" altLang="zh-CN" dirty="0"/>
              <a:t>4) Decoding: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1EBF7F-3653-5C87-2566-D84CB61E6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26" y="1635109"/>
            <a:ext cx="7169628" cy="424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87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8929A-4BE7-6528-FE6A-9EA2884A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MoonCake 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zh-CN" altLang="en-US" dirty="0"/>
              <a:t>重点技术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63A5B-D5C1-8850-7866-F6EA30836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CPP</a:t>
            </a:r>
            <a:r>
              <a:rPr lang="zh-CN" altLang="en-US" dirty="0"/>
              <a:t>：分块流水线并行</a:t>
            </a:r>
          </a:p>
          <a:p>
            <a:r>
              <a:rPr lang="en-US" altLang="zh-CN" dirty="0"/>
              <a:t>KV cache </a:t>
            </a:r>
            <a:r>
              <a:rPr lang="zh-CN" altLang="en-US" dirty="0"/>
              <a:t>感知的预填充调度</a:t>
            </a:r>
            <a:endParaRPr lang="en-US" altLang="zh-CN" dirty="0"/>
          </a:p>
          <a:p>
            <a:r>
              <a:rPr lang="en-US" altLang="zh-CN" dirty="0"/>
              <a:t>KV cache </a:t>
            </a:r>
            <a:r>
              <a:rPr lang="zh-CN" altLang="en-US" dirty="0"/>
              <a:t>负载均衡调度</a:t>
            </a:r>
          </a:p>
        </p:txBody>
      </p:sp>
      <p:pic>
        <p:nvPicPr>
          <p:cNvPr id="3" name="内容占位符 5">
            <a:extLst>
              <a:ext uri="{FF2B5EF4-FFF2-40B4-BE49-F238E27FC236}">
                <a16:creationId xmlns:a16="http://schemas.microsoft.com/office/drawing/2014/main" id="{ECA0CCA9-AAF4-5BF4-F4CE-1C9BEC40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761" y="1450168"/>
            <a:ext cx="7549101" cy="420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B7A5-FA38-C809-EE41-33BF293F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工程项目计划</a:t>
            </a:r>
            <a:r>
              <a:rPr lang="en-US" altLang="zh-CN" dirty="0"/>
              <a:t>——</a:t>
            </a:r>
            <a:r>
              <a:rPr lang="zh-CN" altLang="en-US" dirty="0"/>
              <a:t>动手实现</a:t>
            </a:r>
            <a:r>
              <a:rPr lang="en-US" altLang="zh-CN" dirty="0"/>
              <a:t>LLM</a:t>
            </a:r>
            <a:r>
              <a:rPr lang="zh-CN" altLang="en-US" dirty="0"/>
              <a:t>流水线推理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F688B-51CE-BBBB-25A8-6CEA1865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76"/>
            <a:ext cx="5483087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▌第一阶段：定向技能获取与工具熟悉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分布式系统基础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Python</a:t>
            </a:r>
            <a:r>
              <a:rPr lang="zh-CN" altLang="en-US" dirty="0"/>
              <a:t>学习</a:t>
            </a:r>
            <a:r>
              <a:rPr lang="en-US" altLang="zh-CN" dirty="0"/>
              <a:t>CUDA</a:t>
            </a:r>
          </a:p>
          <a:p>
            <a:r>
              <a:rPr lang="zh-CN" altLang="en-US" dirty="0"/>
              <a:t>▌ 第二阶段：流水线并行推理系统设计</a:t>
            </a:r>
            <a:endParaRPr lang="en-US" altLang="zh-CN" dirty="0"/>
          </a:p>
          <a:p>
            <a:pPr lvl="1"/>
            <a:r>
              <a:rPr lang="zh-CN" altLang="en-US" dirty="0"/>
              <a:t>明确定义</a:t>
            </a:r>
            <a:r>
              <a:rPr lang="en-US" altLang="zh-CN" dirty="0"/>
              <a:t>"</a:t>
            </a:r>
            <a:r>
              <a:rPr lang="zh-CN" altLang="en-US" dirty="0"/>
              <a:t>推理</a:t>
            </a:r>
            <a:r>
              <a:rPr lang="en-US" altLang="zh-CN" dirty="0"/>
              <a:t>"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模型架构与划分：</a:t>
            </a:r>
            <a:endParaRPr lang="en-US" altLang="zh-CN" dirty="0"/>
          </a:p>
          <a:p>
            <a:pPr lvl="1"/>
            <a:r>
              <a:rPr lang="zh-CN" altLang="en-US" dirty="0"/>
              <a:t>流水线调度逻辑（核心创新区）</a:t>
            </a:r>
            <a:endParaRPr lang="en-US" altLang="zh-CN" dirty="0"/>
          </a:p>
          <a:p>
            <a:pPr lvl="1"/>
            <a:r>
              <a:rPr lang="zh-CN" altLang="en-US" dirty="0"/>
              <a:t>通信协议：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D27E542-4862-BA92-7789-D79A5821DD8B}"/>
              </a:ext>
            </a:extLst>
          </p:cNvPr>
          <p:cNvSpPr txBox="1">
            <a:spLocks/>
          </p:cNvSpPr>
          <p:nvPr/>
        </p:nvSpPr>
        <p:spPr>
          <a:xfrm>
            <a:off x="6096000" y="1517700"/>
            <a:ext cx="5483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rgbClr val="0268CE"/>
                </a:solidFill>
                <a:latin typeface="new times roman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new times roman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new times roman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new times roman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new times roman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▌ 第三阶段：迭代式实现</a:t>
            </a:r>
            <a:r>
              <a:rPr lang="en-US" altLang="zh-CN" dirty="0"/>
              <a:t>Python</a:t>
            </a:r>
            <a:r>
              <a:rPr lang="zh-CN" altLang="en-US" dirty="0"/>
              <a:t>分布式系统基础</a:t>
            </a:r>
            <a:endParaRPr lang="en-US" altLang="zh-CN" dirty="0"/>
          </a:p>
          <a:p>
            <a:pPr lvl="1"/>
            <a:r>
              <a:rPr lang="zh-CN" altLang="en-US" dirty="0"/>
              <a:t>骨架流水线（</a:t>
            </a:r>
            <a:r>
              <a:rPr lang="en-US" altLang="zh-CN" dirty="0"/>
              <a:t>CPU</a:t>
            </a:r>
            <a:r>
              <a:rPr lang="zh-CN" altLang="en-US" dirty="0"/>
              <a:t>模拟）</a:t>
            </a:r>
            <a:endParaRPr lang="en-US" altLang="zh-CN" dirty="0"/>
          </a:p>
          <a:p>
            <a:pPr lvl="1"/>
            <a:r>
              <a:rPr lang="zh-CN" altLang="en-US" dirty="0"/>
              <a:t>集成真实模型（单</a:t>
            </a:r>
            <a:r>
              <a:rPr lang="en-US" altLang="zh-CN" dirty="0"/>
              <a:t>GPU→</a:t>
            </a:r>
            <a:r>
              <a:rPr lang="zh-CN" altLang="en-US" dirty="0"/>
              <a:t>多</a:t>
            </a:r>
            <a:r>
              <a:rPr lang="en-US" altLang="zh-CN" dirty="0"/>
              <a:t>GPU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推理组件集成：</a:t>
            </a:r>
            <a:endParaRPr lang="en-US" altLang="zh-CN" dirty="0"/>
          </a:p>
          <a:p>
            <a:pPr lvl="1"/>
            <a:r>
              <a:rPr lang="zh-CN" altLang="en-US" dirty="0"/>
              <a:t>性能剖析与优化：</a:t>
            </a:r>
            <a:endParaRPr lang="en-US" altLang="zh-CN" dirty="0"/>
          </a:p>
          <a:p>
            <a:r>
              <a:rPr lang="zh-CN" altLang="en-US" dirty="0"/>
              <a:t>▌ 第四阶段：实验与论文撰写明确定义</a:t>
            </a:r>
            <a:r>
              <a:rPr lang="en-US" altLang="zh-CN" dirty="0"/>
              <a:t>"</a:t>
            </a:r>
            <a:r>
              <a:rPr lang="zh-CN" altLang="en-US" dirty="0"/>
              <a:t>推理</a:t>
            </a:r>
            <a:r>
              <a:rPr lang="en-US" altLang="zh-CN" dirty="0"/>
              <a:t>"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基线对比：</a:t>
            </a:r>
            <a:endParaRPr lang="en-US" altLang="zh-CN" dirty="0"/>
          </a:p>
          <a:p>
            <a:pPr lvl="1"/>
            <a:r>
              <a:rPr lang="zh-CN" altLang="en-US" dirty="0"/>
              <a:t>评估指标：</a:t>
            </a:r>
            <a:endParaRPr lang="en-US" altLang="zh-CN" dirty="0"/>
          </a:p>
          <a:p>
            <a:pPr lvl="1"/>
            <a:r>
              <a:rPr lang="zh-CN" altLang="en-US" dirty="0"/>
              <a:t>关键实验设计：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0993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B7A5-FA38-C809-EE41-33BF293F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上周代码实践</a:t>
            </a:r>
            <a:r>
              <a:rPr lang="en-US" altLang="zh-CN" dirty="0"/>
              <a:t>——docker</a:t>
            </a:r>
            <a:r>
              <a:rPr lang="zh-CN" altLang="en-US" dirty="0"/>
              <a:t>环境搭建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F688B-51CE-BBBB-25A8-6CEA1865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76"/>
            <a:ext cx="5483087" cy="4351338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WSL+docker</a:t>
            </a:r>
            <a:r>
              <a:rPr lang="zh-CN" altLang="en-US" dirty="0"/>
              <a:t>环境搭建</a:t>
            </a:r>
            <a:endParaRPr lang="en-US" altLang="zh-CN" dirty="0"/>
          </a:p>
          <a:p>
            <a:r>
              <a:rPr lang="en-US" altLang="zh-CN" dirty="0" err="1"/>
              <a:t>Pycharm</a:t>
            </a:r>
            <a:r>
              <a:rPr lang="zh-CN" altLang="en-US" dirty="0"/>
              <a:t>和</a:t>
            </a:r>
            <a:r>
              <a:rPr lang="en-US" altLang="zh-CN" dirty="0" err="1"/>
              <a:t>vscode</a:t>
            </a:r>
            <a:r>
              <a:rPr lang="zh-CN" altLang="en-US" dirty="0"/>
              <a:t>开发环境集成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163550-39D3-1B39-56A5-90984DB04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70" y="2909015"/>
            <a:ext cx="6321287" cy="33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08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828</Words>
  <Application>Microsoft Office PowerPoint</Application>
  <PresentationFormat>宽屏</PresentationFormat>
  <Paragraphs>103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new times roman</vt:lpstr>
      <vt:lpstr>等线</vt:lpstr>
      <vt:lpstr>微软雅黑</vt:lpstr>
      <vt:lpstr>Arial</vt:lpstr>
      <vt:lpstr>Roboto</vt:lpstr>
      <vt:lpstr>Office 主题​​</vt:lpstr>
      <vt:lpstr>第1篇系统：ORCA</vt:lpstr>
      <vt:lpstr>ORCA：核心思想</vt:lpstr>
      <vt:lpstr>ORCA：核心思想</vt:lpstr>
      <vt:lpstr>ORCA：架构</vt:lpstr>
      <vt:lpstr>1.5 ORCA的进一步改进：Sarathi——分块预填充技术</vt:lpstr>
      <vt:lpstr>Sarathi</vt:lpstr>
      <vt:lpstr>第二篇系统：Sarathi-Serve</vt:lpstr>
      <vt:lpstr>第二篇系统：Sarathi-Serve</vt:lpstr>
      <vt:lpstr>第三篇系统 SplitWise</vt:lpstr>
      <vt:lpstr>SplitWise 系统架构</vt:lpstr>
      <vt:lpstr>SplitWise KV cache传输</vt:lpstr>
      <vt:lpstr>DistServe : 问题背景</vt:lpstr>
      <vt:lpstr>DistServe ：核心思想 </vt:lpstr>
      <vt:lpstr>第五篇系统 MoonCake</vt:lpstr>
      <vt:lpstr>MoonCake  整体架构</vt:lpstr>
      <vt:lpstr>MoonCake   Overview</vt:lpstr>
      <vt:lpstr>MoonCake   重点技术</vt:lpstr>
      <vt:lpstr>工程项目计划——动手实现LLM流水线推理</vt:lpstr>
      <vt:lpstr>上周代码实践——docker环境搭建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52</cp:revision>
  <dcterms:created xsi:type="dcterms:W3CDTF">2025-04-30T10:21:08Z</dcterms:created>
  <dcterms:modified xsi:type="dcterms:W3CDTF">2025-05-20T13:34:46Z</dcterms:modified>
</cp:coreProperties>
</file>